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E9032-67FE-2572-2C1E-98E737F56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9BD51-890A-7730-C0E7-AEC7F5068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B08A-2C1C-8B69-BE43-7C3D3C97D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46494-8843-AA46-7F34-5E1944FD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9C7E-70E6-D993-4D1D-75E1BC7EE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2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9303-1FC1-382E-9B0D-E9D40370E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EBEC7-3D95-70E9-1A4B-61C13ECD8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CE09C-8F2E-48E0-DEC7-DDBDAAC8C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CDE96-E4A5-DBB6-D312-F5B01B726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049D-2778-CC78-5A25-EF1A8BBD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9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DB047-A6F9-1A22-28B1-2C0A7102F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CD015-9C14-517E-595A-3E87805D1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B0E50-C8BA-CDE2-27E8-071E9FB83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7CE00-9BAB-3241-EAE7-54015840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B1768-E691-7B9C-6592-0F01437A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64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AF82A-470F-F575-2269-542915F5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221D4-3D60-D0A8-928F-BB20AA7E7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ED619-87E4-C3EA-7344-1E39A97F2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56191-3117-3099-0052-08DA4760B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0FEEB-08A6-7694-0F25-DBE8DD7E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A323F-6E43-32F5-41D9-80C66B7A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32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BBCD6-04E8-8645-E94D-38DE00110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341A7-CA0A-0CF0-A4CA-36FD9ACD5C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FD9BFA-3835-A444-EB38-77D79DE05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2ACD6-612B-66D8-F5AA-F704E557E4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908801-89F8-416B-A192-3A94224FA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CB539D-EF25-A1BD-AF50-E8C06FEC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21A712-4E98-EE0A-833F-8EE227B3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0E1CBF-55EC-3B17-37D8-E2C6F7CB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92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84F34-5D3E-4983-8619-651D4AC88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524BA-3573-223A-80B5-CAB1538FE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233AD6-98D2-C335-BD7F-B99DB516E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1DFAB-4C80-459F-F757-CB64FA953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BBA29-CAB4-2E40-AE54-E6350461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A3D9B9-9C1D-D0CD-DFE1-5DB0B9491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B7E14-883E-E982-63AA-2B2C9D16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939C-2A5B-86E9-79EE-95A90898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AC4E-12F0-2850-E0C9-86A944990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B995F-A3FE-6363-F460-10E5A05D7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447F7-DA19-D08A-E116-FF18D166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0FC993-0563-FB31-4284-F49A7F66F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6092C-D23B-30D6-C878-0712FE2A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5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97FD-B79A-DDF5-4688-146AA0843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9865A-8094-B8A8-C6B0-04E5A209DC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1DCB8-579F-07C6-F8FB-CACE98AA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A116E-C952-55AB-EF14-B254B0DC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C6F54-EF58-7387-611E-A6CD317A1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2D5FF-D2B9-F98C-FBB6-35479D9E0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0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F593-63A1-6C5C-C842-9CBA7CAF1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5013C7-BA4A-2E1F-E85B-C9B1CB421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C5C9-83B9-18A4-0E2D-ED5BC0B0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7823-1508-DD15-AEB0-D3C6BF85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48B42-79CA-F511-520B-684511CE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60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15E9F-8702-F7E4-D8DC-C2E18E401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503654-C97C-91A8-298E-44F99B025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1DF97-8572-04A5-ECF9-12F5B72A9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5F3C9-9C31-05D7-A842-B0E63A3F5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647EA-648E-12DD-C37E-7154CC89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7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3A902E-A55F-69C4-1AF3-770D946DB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63490-F76C-C2E2-BBFD-738B9F2F3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214E6-CC70-8A70-8D4C-FE75F22D9F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2B8AE-5515-744D-94B0-64470082B1DE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BBD06-2991-C778-242A-E7100F5AB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15315-A999-543A-F70D-6C6DC1FF3E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DCC41-DDB8-334A-BAAF-86ED5FD2C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396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0D0D5093-CA34-B252-F754-437D0E42495C}"/>
              </a:ext>
            </a:extLst>
          </p:cNvPr>
          <p:cNvSpPr txBox="1">
            <a:spLocks/>
          </p:cNvSpPr>
          <p:nvPr/>
        </p:nvSpPr>
        <p:spPr>
          <a:xfrm>
            <a:off x="1523846" y="169452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 dirty="0" err="1">
                <a:latin typeface="Dreaming Outloud Script Pro" panose="020F0502020204030204" pitchFamily="34" charset="0"/>
                <a:cs typeface="Dreaming Outloud Script Pro" panose="020F0502020204030204" pitchFamily="34" charset="0"/>
              </a:rPr>
              <a:t>Р</a:t>
            </a:r>
            <a:r>
              <a:rPr lang="bg-BG" i="1" dirty="0" err="1">
                <a:latin typeface="Dreaming Outloud Script Pro" panose="020F0502020204030204" pitchFamily="34" charset="0"/>
                <a:cs typeface="Dreaming Outloud Script Pro" panose="020F0502020204030204" pitchFamily="34" charset="0"/>
              </a:rPr>
              <a:t>ъкоделко</a:t>
            </a:r>
            <a:r>
              <a:rPr lang="bg-BG" i="1" dirty="0">
                <a:latin typeface="Dreaming Outloud Script Pro" panose="020F0502020204030204" pitchFamily="34" charset="0"/>
                <a:cs typeface="Dreaming Outloud Script Pro" panose="020F0502020204030204" pitchFamily="34" charset="0"/>
              </a:rPr>
              <a:t> – </a:t>
            </a:r>
            <a:endParaRPr lang="en-US" i="1" dirty="0">
              <a:latin typeface="Dreaming Outloud Script Pro" panose="020F0502020204030204" pitchFamily="34" charset="0"/>
              <a:cs typeface="Dreaming Outloud Script Pro" panose="020F0502020204030204" pitchFamily="34" charset="0"/>
            </a:endParaRPr>
          </a:p>
          <a:p>
            <a:r>
              <a:rPr lang="bg-BG" i="1" dirty="0">
                <a:latin typeface="Dreaming Outloud Script Pro" panose="020F0502020204030204" pitchFamily="34" charset="0"/>
                <a:cs typeface="Dreaming Outloud Script Pro" panose="020F0502020204030204" pitchFamily="34" charset="0"/>
              </a:rPr>
              <a:t>Пазар за уникални ръкоделия</a:t>
            </a:r>
            <a:endParaRPr lang="en-US" i="1" dirty="0">
              <a:latin typeface="Dreaming Outloud Script Pro" panose="020F0502020204030204" pitchFamily="34" charset="0"/>
              <a:cs typeface="Dreaming Outloud Script Pro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7232A23-FC14-6A88-19E5-B86BF69C0019}"/>
              </a:ext>
            </a:extLst>
          </p:cNvPr>
          <p:cNvSpPr txBox="1">
            <a:spLocks/>
          </p:cNvSpPr>
          <p:nvPr/>
        </p:nvSpPr>
        <p:spPr>
          <a:xfrm>
            <a:off x="1834825" y="4628341"/>
            <a:ext cx="8522043" cy="789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bg-BG" dirty="0"/>
              <a:t>Изготвено от: Христиана Караиванова, Ф.н.: 3</a:t>
            </a:r>
            <a:r>
              <a:rPr lang="en-US" dirty="0"/>
              <a:t>MI</a:t>
            </a:r>
            <a:r>
              <a:rPr lang="bg-BG" dirty="0"/>
              <a:t>0700178, ИС, </a:t>
            </a:r>
            <a:r>
              <a:rPr lang="en-US" dirty="0"/>
              <a:t>IV </a:t>
            </a:r>
            <a:r>
              <a:rPr lang="bg-BG" dirty="0"/>
              <a:t>курс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68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ABB624F-BF77-4AE1-B71D-2D681D473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C19B1C-F9A5-E318-4DCC-7E99C21B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21" r="17326"/>
          <a:stretch>
            <a:fillRect/>
          </a:stretch>
        </p:blipFill>
        <p:spPr>
          <a:xfrm>
            <a:off x="-1" y="10"/>
            <a:ext cx="7370057" cy="6857990"/>
          </a:xfrm>
          <a:prstGeom prst="rect">
            <a:avLst/>
          </a:prstGeom>
        </p:spPr>
      </p:pic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876338-4AE9-410E-F7D3-A73F26EFB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4565" r="4980"/>
          <a:stretch>
            <a:fillRect/>
          </a:stretch>
        </p:blipFill>
        <p:spPr>
          <a:xfrm>
            <a:off x="7534656" y="1"/>
            <a:ext cx="4657344" cy="3346704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28B7F8-5078-8D45-2A31-BF6293B378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5" r="7120"/>
          <a:stretch>
            <a:fillRect/>
          </a:stretch>
        </p:blipFill>
        <p:spPr>
          <a:xfrm>
            <a:off x="7534654" y="3511296"/>
            <a:ext cx="4657346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9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62ABC4B-37D8-4218-BDD8-6DF6A00C0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9" name="Picture 1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8DB10A-ED6F-C768-567A-0758B1B1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8197"/>
          <a:stretch>
            <a:fillRect/>
          </a:stretch>
        </p:blipFill>
        <p:spPr>
          <a:xfrm>
            <a:off x="321730" y="321732"/>
            <a:ext cx="5674897" cy="3017405"/>
          </a:xfrm>
          <a:prstGeom prst="rect">
            <a:avLst/>
          </a:prstGeom>
        </p:spPr>
      </p:pic>
      <p:pic>
        <p:nvPicPr>
          <p:cNvPr id="15" name="Content Placeholder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9CC0A8-2C1E-A007-0D56-9BD162CF10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-2" b="24363"/>
          <a:stretch>
            <a:fillRect/>
          </a:stretch>
        </p:blipFill>
        <p:spPr>
          <a:xfrm>
            <a:off x="321730" y="3510853"/>
            <a:ext cx="5674897" cy="2789954"/>
          </a:xfrm>
          <a:prstGeom prst="rect">
            <a:avLst/>
          </a:prstGeom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F6537-7FB6-4707-6087-A7565088F7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69" r="27937" b="-2"/>
          <a:stretch>
            <a:fillRect/>
          </a:stretch>
        </p:blipFill>
        <p:spPr>
          <a:xfrm>
            <a:off x="6195373" y="321733"/>
            <a:ext cx="5674897" cy="597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92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A869AF-CD02-9AEC-CFA1-175B3F793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8958" r="16890" b="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F7BC196-3C07-FC54-B59C-DE7E2D793E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07" r="17171" b="1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8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0A8CBF-BA2A-BAD4-413E-9C3C84227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232881"/>
              </p:ext>
            </p:extLst>
          </p:nvPr>
        </p:nvGraphicFramePr>
        <p:xfrm>
          <a:off x="431972" y="259490"/>
          <a:ext cx="11328056" cy="633902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3042130">
                  <a:extLst>
                    <a:ext uri="{9D8B030D-6E8A-4147-A177-3AD203B41FA5}">
                      <a16:colId xmlns:a16="http://schemas.microsoft.com/office/drawing/2014/main" val="1022304088"/>
                    </a:ext>
                  </a:extLst>
                </a:gridCol>
                <a:gridCol w="5915311">
                  <a:extLst>
                    <a:ext uri="{9D8B030D-6E8A-4147-A177-3AD203B41FA5}">
                      <a16:colId xmlns:a16="http://schemas.microsoft.com/office/drawing/2014/main" val="3180390898"/>
                    </a:ext>
                  </a:extLst>
                </a:gridCol>
                <a:gridCol w="2370615">
                  <a:extLst>
                    <a:ext uri="{9D8B030D-6E8A-4147-A177-3AD203B41FA5}">
                      <a16:colId xmlns:a16="http://schemas.microsoft.com/office/drawing/2014/main" val="3608781942"/>
                    </a:ext>
                  </a:extLst>
                </a:gridCol>
              </a:tblGrid>
              <a:tr h="1060810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Users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GET User Data for all Users and POST new User Data (ID is auto-filled by RakodelkoSYS and modified entity is returned as result from POST request).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Available only for Administrators.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/api/users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2311718849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User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GET, PUT, DELETE User Data for User with specified userID, according to restrictions described in UCs.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/api/users/{userID}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1803562787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Login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POST User Credentials (e-mail address and password) and receive a valid Security Token to use in subsequent API requests.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/api/auth/login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1651343197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Logout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POST User Credentials (e-mail address and password) and receive a valid Security Token to use in subsequent API requests.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/api/auth/logout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3614453381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Orders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 Order Data for User with specified </a:t>
                      </a:r>
                      <a:r>
                        <a:rPr lang="en-US" sz="1400" dirty="0" err="1">
                          <a:effectLst/>
                        </a:rPr>
                        <a:t>orderID</a:t>
                      </a:r>
                      <a:r>
                        <a:rPr lang="en-US" sz="1400" dirty="0">
                          <a:effectLst/>
                        </a:rPr>
                        <a:t> and POST new Order Data, according to restrictions described in UCs.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/orders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3160955666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Items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 Items and POST new Item (ID is auto-filled by </a:t>
                      </a:r>
                      <a:r>
                        <a:rPr lang="en-US" sz="1400" dirty="0" err="1">
                          <a:effectLst/>
                        </a:rPr>
                        <a:t>RakodelkoSYS</a:t>
                      </a:r>
                      <a:r>
                        <a:rPr lang="en-US" sz="1400" dirty="0">
                          <a:effectLst/>
                        </a:rPr>
                        <a:t> and modified entity is returned as result from POST request).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/items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3314524952"/>
                  </a:ext>
                </a:extLst>
              </a:tr>
              <a:tr h="520576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Item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GET, PUT, DELETE Item Data for Item with specified </a:t>
                      </a:r>
                      <a:r>
                        <a:rPr lang="en-US" sz="1400" dirty="0" err="1">
                          <a:effectLst/>
                        </a:rPr>
                        <a:t>itemID</a:t>
                      </a:r>
                      <a:r>
                        <a:rPr lang="en-US" sz="1400" dirty="0">
                          <a:effectLst/>
                        </a:rPr>
                        <a:t>, according to restrictions described in UCs.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/items/{</a:t>
                      </a:r>
                      <a:r>
                        <a:rPr lang="en-US" sz="1400" dirty="0" err="1">
                          <a:effectLst/>
                        </a:rPr>
                        <a:t>itemID</a:t>
                      </a:r>
                      <a:r>
                        <a:rPr lang="en-US" sz="1400" dirty="0">
                          <a:effectLst/>
                        </a:rPr>
                        <a:t>}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1616213207"/>
                  </a:ext>
                </a:extLst>
              </a:tr>
              <a:tr h="481761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Comments And Ratings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GET, PUT, DELETE Comments And Ratings for Item with specified </a:t>
                      </a:r>
                      <a:r>
                        <a:rPr lang="en-US" sz="1400" dirty="0" err="1">
                          <a:effectLst/>
                        </a:rPr>
                        <a:t>itemID</a:t>
                      </a:r>
                      <a:r>
                        <a:rPr lang="en-US" sz="1400" dirty="0">
                          <a:effectLst/>
                        </a:rPr>
                        <a:t>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/api/items/{itemID}/reviews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990558526"/>
                  </a:ext>
                </a:extLst>
              </a:tr>
              <a:tr h="480881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Invoice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GET Invoice for Item if User request it.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/orders /{</a:t>
                      </a:r>
                      <a:r>
                        <a:rPr lang="en-US" sz="1400" dirty="0" err="1">
                          <a:effectLst/>
                        </a:rPr>
                        <a:t>orderID</a:t>
                      </a:r>
                      <a:r>
                        <a:rPr lang="en-US" sz="1400" dirty="0">
                          <a:effectLst/>
                        </a:rPr>
                        <a:t>}/invoice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3256378131"/>
                  </a:ext>
                </a:extLst>
              </a:tr>
              <a:tr h="480881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Multimedia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GET, PUT, DELETE Pictures/Videos related to Items.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/items/{</a:t>
                      </a:r>
                      <a:r>
                        <a:rPr lang="en-US" sz="1400" dirty="0" err="1">
                          <a:effectLst/>
                        </a:rPr>
                        <a:t>itemID</a:t>
                      </a:r>
                      <a:r>
                        <a:rPr lang="en-US" sz="1400" dirty="0">
                          <a:effectLst/>
                        </a:rPr>
                        <a:t>}/media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2875723459"/>
                  </a:ext>
                </a:extLst>
              </a:tr>
              <a:tr h="711231">
                <a:tc>
                  <a:txBody>
                    <a:bodyPr/>
                    <a:lstStyle/>
                    <a:p>
                      <a:pPr marL="457200" marR="0" lvl="1" indent="0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+mj-lt"/>
                        <a:buNone/>
                      </a:pPr>
                      <a:r>
                        <a:rPr lang="en-US" sz="1400" dirty="0">
                          <a:effectLst/>
                        </a:rPr>
                        <a:t>Shipping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GET, PUT, DELETE Address Data of Purchased Item.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2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/</a:t>
                      </a:r>
                      <a:r>
                        <a:rPr lang="en-US" sz="1400" dirty="0" err="1">
                          <a:effectLst/>
                        </a:rPr>
                        <a:t>api</a:t>
                      </a:r>
                      <a:r>
                        <a:rPr lang="en-US" sz="1400" dirty="0">
                          <a:effectLst/>
                        </a:rPr>
                        <a:t>/orders /{</a:t>
                      </a:r>
                      <a:r>
                        <a:rPr lang="en-US" sz="1400" dirty="0" err="1">
                          <a:effectLst/>
                        </a:rPr>
                        <a:t>orderID</a:t>
                      </a:r>
                      <a:r>
                        <a:rPr lang="en-US" sz="1400" dirty="0">
                          <a:effectLst/>
                        </a:rPr>
                        <a:t>}/shipping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0958" marR="40958" marT="17066" marB="17066"/>
                </a:tc>
                <a:extLst>
                  <a:ext uri="{0D108BD9-81ED-4DB2-BD59-A6C34878D82A}">
                    <a16:rowId xmlns:a16="http://schemas.microsoft.com/office/drawing/2014/main" val="3359293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4030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EDB7CB-5573-9665-1403-2A1B5ECA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6279" y="2235041"/>
            <a:ext cx="6739136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i="1" dirty="0" err="1">
                <a:latin typeface="Dreaming Outloud Script Pro" panose="03050502040304050704" pitchFamily="66" charset="77"/>
                <a:cs typeface="Dreaming Outloud Script Pro" panose="03050502040304050704" pitchFamily="66" charset="77"/>
              </a:rPr>
              <a:t>Б</a:t>
            </a:r>
            <a:r>
              <a:rPr lang="bg-BG" sz="6000" i="1" dirty="0" err="1">
                <a:cs typeface="Dreaming Outloud Script Pro" panose="03050502040304050704" pitchFamily="66" charset="77"/>
              </a:rPr>
              <a:t>лагодаря</a:t>
            </a:r>
            <a:r>
              <a:rPr lang="bg-BG" sz="6000" i="1" dirty="0">
                <a:cs typeface="Dreaming Outloud Script Pro" panose="03050502040304050704" pitchFamily="66" charset="77"/>
              </a:rPr>
              <a:t> за вниманието!</a:t>
            </a:r>
            <a:endParaRPr lang="en-US" sz="6000" i="1" dirty="0">
              <a:latin typeface="Dreaming Outloud Script Pro" panose="03050502040304050704" pitchFamily="66" charset="77"/>
              <a:cs typeface="Dreaming Outloud Script Pro" panose="03050502040304050704" pitchFamily="66" charset="77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5523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320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Dreaming Outloud Script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Hristiana Karaivanova</dc:creator>
  <cp:lastModifiedBy>Христиана Караиванова</cp:lastModifiedBy>
  <cp:revision>3</cp:revision>
  <dcterms:created xsi:type="dcterms:W3CDTF">2025-06-30T15:53:53Z</dcterms:created>
  <dcterms:modified xsi:type="dcterms:W3CDTF">2026-01-01T21:56:11Z</dcterms:modified>
</cp:coreProperties>
</file>